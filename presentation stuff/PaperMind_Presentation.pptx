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80" r:id="rId3"/>
    <p:sldId id="257" r:id="rId4"/>
    <p:sldId id="278" r:id="rId5"/>
    <p:sldId id="258" r:id="rId6"/>
    <p:sldId id="259" r:id="rId7"/>
    <p:sldId id="260" r:id="rId8"/>
    <p:sldId id="265" r:id="rId9"/>
    <p:sldId id="266" r:id="rId10"/>
    <p:sldId id="268" r:id="rId11"/>
    <p:sldId id="269" r:id="rId12"/>
    <p:sldId id="270" r:id="rId13"/>
    <p:sldId id="271" r:id="rId14"/>
    <p:sldId id="267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538" autoAdjust="0"/>
  </p:normalViewPr>
  <p:slideViewPr>
    <p:cSldViewPr snapToGrid="0" snapToObjects="1">
      <p:cViewPr varScale="1">
        <p:scale>
          <a:sx n="86" d="100"/>
          <a:sy n="86" d="100"/>
        </p:scale>
        <p:origin x="4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487C7-B85C-4962-8393-8A7ABB8C980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7AD87-DB24-43FB-A043-FA288DCE62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405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AD87-DB24-43FB-A043-FA288DCE62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11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AD87-DB24-43FB-A043-FA288DCE62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448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AD87-DB24-43FB-A043-FA288DCE62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741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7AD87-DB24-43FB-A043-FA288DCE626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68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AFAFA"/>
                </a:solidFill>
              </a:defRPr>
            </a:pPr>
            <a:r>
              <a:t>PaperMind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DE8F5"/>
                </a:solidFill>
              </a:defRPr>
            </a:pPr>
            <a:r>
              <a:t>Browser-Native AI Research Co-Pilot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8C5D0"/>
                </a:solidFill>
              </a:defRPr>
            </a:pPr>
            <a:r>
              <a:t>Drowning in information, starving for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2026 Product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AFAFA"/>
                </a:solidFill>
              </a:defRPr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Roadmap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7C7FF5"/>
                </a:solidFill>
              </a:defRPr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C7F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Philosophy &amp; Design 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C7FF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05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lang="en-US" sz="1400" dirty="0">
                <a:solidFill>
                  <a:srgbClr val="FAFAFA"/>
                </a:solidFill>
                <a:latin typeface="Calibri"/>
              </a:rPr>
              <a:t>Problems &amp; Pain: Information overload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lang="en-US" sz="1400" dirty="0">
                <a:solidFill>
                  <a:srgbClr val="FAFAFA"/>
                </a:solidFill>
                <a:latin typeface="Calibri"/>
              </a:rPr>
              <a:t>Goal: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Seamless </a:t>
            </a:r>
            <a:r>
              <a:rPr lang="en-US" sz="1400" dirty="0">
                <a:solidFill>
                  <a:srgbClr val="FAFAFA"/>
                </a:solidFill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ollaboration</a:t>
            </a:r>
            <a:r>
              <a:rPr lang="en-US" sz="1400" dirty="0">
                <a:solidFill>
                  <a:srgbClr val="FAFAFA"/>
                </a:solidFill>
                <a:latin typeface="Calibri"/>
              </a:rPr>
              <a:t>, full-workflow implementation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</a:t>
            </a:r>
            <a:r>
              <a:rPr lang="en-US" sz="1400" dirty="0">
                <a:solidFill>
                  <a:srgbClr val="FAFAFA"/>
                </a:solidFill>
                <a:latin typeface="Calibri"/>
              </a:rPr>
              <a:t> integrated environment 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FAFAFA"/>
                </a:solidFill>
              </a:defRPr>
            </a:pPr>
            <a:r>
              <a:rPr lang="en-US" altLang="zh-CN" sz="1400" dirty="0">
                <a:solidFill>
                  <a:srgbClr val="FAFAFA"/>
                </a:solidFill>
                <a:latin typeface="Calibri"/>
              </a:rPr>
              <a:t>Feasibility: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Based on mature AI technologies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lang="en-US" sz="1400" dirty="0">
                <a:solidFill>
                  <a:srgbClr val="FAFAFA"/>
                </a:solidFill>
                <a:latin typeface="Calibri"/>
              </a:rPr>
              <a:t>Demo showcase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i="0" kern="1200" spc="0" baseline="0" dirty="0">
                <a:ln>
                  <a:noFill/>
                </a:ln>
                <a:solidFill>
                  <a:srgbClr val="7C7FF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Marketing &amp; Deployment</a:t>
            </a:r>
            <a:endParaRPr lang="zh-CN" altLang="zh-CN" dirty="0">
              <a:effectLst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5316968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Risks &amp; mitigations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lang="en-US" sz="1400" dirty="0">
                <a:solidFill>
                  <a:srgbClr val="FAFAFA"/>
                </a:solidFill>
                <a:latin typeface="Calibri"/>
              </a:rPr>
              <a:t>Further expansion across fields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0E594A93-C20A-F0DC-A5AE-0E71ED5C90A4}"/>
              </a:ext>
            </a:extLst>
          </p:cNvPr>
          <p:cNvSpPr txBox="1"/>
          <p:nvPr/>
        </p:nvSpPr>
        <p:spPr>
          <a:xfrm>
            <a:off x="1005840" y="364617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Freemium subscription model: most suitable for deep research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Revenue projection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>
                <a:solidFill>
                  <a:srgbClr val="FAFAFA"/>
                </a:solidFill>
              </a:defRPr>
            </a:pPr>
            <a:r>
              <a:rPr lang="en-US" sz="1400" dirty="0">
                <a:solidFill>
                  <a:srgbClr val="FAFAFA"/>
                </a:solidFill>
                <a:latin typeface="Calibri"/>
              </a:rPr>
              <a:t>Three-year startup plan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AFAF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8316703-3BEF-7B1D-D3C0-CF39C85EF556}"/>
              </a:ext>
            </a:extLst>
          </p:cNvPr>
          <p:cNvSpPr txBox="1"/>
          <p:nvPr/>
        </p:nvSpPr>
        <p:spPr>
          <a:xfrm>
            <a:off x="1005840" y="485001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i="0" kern="1200" spc="0" baseline="0" dirty="0">
                <a:ln>
                  <a:noFill/>
                </a:ln>
                <a:solidFill>
                  <a:srgbClr val="7C7FF5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Future</a:t>
            </a:r>
            <a:endParaRPr lang="zh-CN" altLang="zh-CN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男人在电视前&#10;&#10;AI 生成的内容可能不正确。">
            <a:extLst>
              <a:ext uri="{FF2B5EF4-FFF2-40B4-BE49-F238E27FC236}">
                <a16:creationId xmlns:a16="http://schemas.microsoft.com/office/drawing/2014/main" id="{86736833-9E1A-DF83-7CE2-2B8DC51E9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30" y="2679405"/>
            <a:ext cx="5983170" cy="4178595"/>
          </a:xfrm>
          <a:prstGeom prst="rect">
            <a:avLst/>
          </a:prstGeom>
        </p:spPr>
      </p:pic>
      <p:pic>
        <p:nvPicPr>
          <p:cNvPr id="21" name="图片 20" descr="墙上挂着一幅画&#10;&#10;AI 生成的内容可能不正确。">
            <a:extLst>
              <a:ext uri="{FF2B5EF4-FFF2-40B4-BE49-F238E27FC236}">
                <a16:creationId xmlns:a16="http://schemas.microsoft.com/office/drawing/2014/main" id="{4DFDC7EB-0724-B848-76CE-6D22A377B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7" y="1113186"/>
            <a:ext cx="4639635" cy="27529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AFAFA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Problem: Information Overload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B8C5D0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have more papers than ever — but less actual 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22860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" y="2240280"/>
            <a:ext cx="73152" cy="548640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AFAFA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3M+ Papers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8C5D0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new paper every 10 seconds</a:t>
            </a:r>
            <a:b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Researchers can read &lt; 1% of relevant literature</a:t>
            </a:r>
            <a:b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Information overwhelm = slow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474720" cy="22860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26280" y="2240280"/>
            <a:ext cx="73152" cy="548640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AFAFA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Hallucination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8C5D0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 to 30% fake citations in academic AI outputs</a:t>
            </a:r>
            <a:b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Chasing ghost references wastes hours</a:t>
            </a:r>
            <a:b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Verification is a new form of labor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22860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83880" y="224028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AFAFA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Fragmented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8C5D0"/>
                </a:solidFill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10+ tabs open per research session</a:t>
            </a:r>
            <a:b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Copy-paste between tools is error-prone</a:t>
            </a:r>
            <a:b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8C5D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Knowledge gets lost in silos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8992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2DE8F5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2DE8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"Drowning in information, starving for knowledge."</a:t>
            </a:r>
          </a:p>
        </p:txBody>
      </p:sp>
    </p:spTree>
    <p:extLst>
      <p:ext uri="{BB962C8B-B14F-4D97-AF65-F5344CB8AC3E}">
        <p14:creationId xmlns:p14="http://schemas.microsoft.com/office/powerpoint/2010/main" val="3019175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566160" y="2011680"/>
            <a:ext cx="5303520" cy="43891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03320" y="2148840"/>
            <a:ext cx="73152" cy="548640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PaperMind: Co-Pilot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97480"/>
            <a:ext cx="47548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🟢  Observe → Understand → Suggest → Verify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🟢  Lives in your browser, knows your research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🟢  Every claim bound to real source pages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🟢  Builds your knowledge graph over time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🟢  Works alongside you, not for you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Philosophy: AI should amplify thinking, not replace 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</a:defRPr>
            </a:pPr>
            <a:r>
              <a:t>Today's Tools Treat Research Like a Vending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Insert question → receive answer. No collaboration, no memory, no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011680"/>
            <a:ext cx="5303520" cy="43891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3320" y="2148840"/>
            <a:ext cx="73152" cy="548640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Current: Q&amp;A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697480"/>
            <a:ext cx="4754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🔴  One-way: Question → Answer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🔴  No context of your work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🔴  Answers need manual verification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🔴  No memory across sessions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🔴  Works in isolation, not with you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Tools: ChatGPT, Gemini, Elicit, </a:t>
            </a:r>
            <a:r>
              <a:rPr dirty="0" err="1">
                <a:solidFill>
                  <a:schemeClr val="bg1"/>
                </a:solidFill>
              </a:rPr>
              <a:t>Scite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7.40741E-7 L -0.25 7.40741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25 -4.44444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7.40741E-7 L -0.25 -7.40741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07407E-6 L -0.25 -4.0740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0.25 -4.44444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7.40741E-7 L 0.25 -7.40741E-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7.40741E-7 L 0.25 7.40741E-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0.25 -1.85185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9" grpId="1" animBg="1"/>
      <p:bldP spid="10" grpId="1"/>
      <p:bldP spid="11" grpId="1"/>
      <p:bldP spid="4" grpId="0" animBg="1"/>
      <p:bldP spid="5" grpId="0" animBg="1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Introducing PaperMind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The world's first browser-native AI research co-pilot.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Deep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RAG-powered reading</a:t>
            </a:r>
            <a:br/>
            <a:r>
              <a:t>assistant +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984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5984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864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864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Knowledge graph + paper</a:t>
            </a:r>
            <a:br/>
            <a:r>
              <a:t>search &amp;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0448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0448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3328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3328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LaTeX editor + AI</a:t>
            </a:r>
            <a:br/>
            <a:r>
              <a:t>writing assistance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912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912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7792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Context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7792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Add papers, URLs,</a:t>
            </a:r>
            <a:br/>
            <a:r>
              <a:t>MCP skills to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789920" cy="10972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🌐 Browser-Native — works where you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🔗 Fully Traceable — every claim has a source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👥 Team-Ready — built-in 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🧠 Context-Aware — understands your research direction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FAFA"/>
                </a:solidFill>
              </a:defRPr>
            </a:pPr>
            <a:r>
              <a:t>Demo: PaperMind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8C5D0"/>
                </a:solidFill>
              </a:defRPr>
            </a:pPr>
            <a:r>
              <a:t>We talked about the philosophy — now let me show you what it actually looks like.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754880"/>
            <a:ext cx="6675120" cy="7315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0" y="4937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E8F5"/>
                </a:solidFill>
              </a:defRPr>
            </a:pPr>
            <a:r>
              <a:t>Not a vending machine for answers — a co-pilot for discovery.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Philosophy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What we showed you connects directly to what we talked about earlier: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20440" cy="3200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520440" cy="73152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7FF5"/>
                </a:solidFill>
              </a:defRPr>
            </a:pPr>
            <a:r>
              <a:t>AI should amplify thinking, not replace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You don't ask 'write my literature review'</a:t>
            </a:r>
            <a:br/>
            <a:r>
              <a:t>• You explore, read, build your understanding</a:t>
            </a:r>
            <a:br/>
            <a:r>
              <a:t>• AI helps you work faster at every step</a:t>
            </a:r>
            <a:br/>
            <a:r>
              <a:t>• You're in the driver's seat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3200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520440" cy="73152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E0A8"/>
                </a:solidFill>
              </a:defRPr>
            </a:pPr>
            <a:r>
              <a:t>Stop chasing ghosts, start discovering truths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Every claim traces back to a real source</a:t>
            </a:r>
            <a:br/>
            <a:r>
              <a:t>• Every citation → verify in one click</a:t>
            </a:r>
            <a:br/>
            <a:r>
              <a:t>• No ghost citations</a:t>
            </a:r>
            <a:br/>
            <a:r>
              <a:t>• No wasted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20440" cy="3200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520440" cy="73152"/>
          </a:xfrm>
          <a:prstGeom prst="rect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E8F5"/>
                </a:solidFill>
              </a:defRPr>
            </a:pPr>
            <a:r>
              <a:t>From Q&amp;A to collaboration, from static to seamless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Not a chat window you open occasionally</a:t>
            </a:r>
            <a:br/>
            <a:r>
              <a:t>• A workspace you live in</a:t>
            </a:r>
            <a:br/>
            <a:r>
              <a:t>• AI is there when you search, read, write</a:t>
            </a:r>
            <a:br/>
            <a:r>
              <a:t>• Not a tool you use — a partner you work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Four Core AI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AI is not an add-on — it's the entire skeleton and engine of the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RAG — Retrieval-Augmented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Reads PDFs &amp; web pages, extracts paragraphs/charts/data</a:t>
            </a:r>
            <a:br/>
            <a:r>
              <a:t>Select any text → instant summary, translation, key points</a:t>
            </a:r>
            <a:br/>
            <a:r>
              <a:t>Root cause fix for hallucinations: all output bound to real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7FF5"/>
                </a:solidFill>
              </a:defRPr>
            </a:pPr>
            <a:r>
              <a:t>Solves: Reading time + fake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2148840"/>
            <a:ext cx="73152" cy="548640"/>
          </a:xfrm>
          <a:prstGeom prst="rect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NLP — Semantic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Parses your research keywords and direction automatically</a:t>
            </a:r>
            <a:br/>
            <a:r>
              <a:t>Classifies reviews, experiments, methods papers intelligently</a:t>
            </a:r>
            <a:br/>
            <a:r>
              <a:t>Pushes frontier papers from arXiv, PubMed, Google Scholar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94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E8F5"/>
                </a:solidFill>
              </a:defRPr>
            </a:pPr>
            <a:r>
              <a:t>Solves: Search fatigue + irrelevant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4526280"/>
            <a:ext cx="73152" cy="548640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Knowledge Graph (GNN + Entity Extraction)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Extracts models, datasets, conclusions, authors as entities</a:t>
            </a:r>
            <a:br/>
            <a:r>
              <a:t>Maps connections: A proposed B → C improved B → D used B</a:t>
            </a:r>
            <a:br/>
            <a:r>
              <a:t>Discovers hidden cross-field connections manual search misses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172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E0A8"/>
                </a:solidFill>
              </a:defRPr>
            </a:pPr>
            <a:r>
              <a:t>Solves: Weak cross-paper connections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38912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4526280"/>
            <a:ext cx="73152" cy="548640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Bidirectional Citation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74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Every AI output auto-binds to page numbers + source links</a:t>
            </a:r>
            <a:br/>
            <a:r>
              <a:t>Forward + backward citation tracing for full research lineage</a:t>
            </a:r>
            <a:br/>
            <a:r>
              <a:t>Multi-source cross-verification reduces hallucination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172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CA34E"/>
                </a:solidFill>
              </a:defRPr>
            </a:pPr>
            <a:r>
              <a:t>Solves: Truth verification + citation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From tools that manage files or answer questions → to a system that collaborates with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189" y="2011680"/>
            <a:ext cx="228600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349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rPr dirty="0"/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70189" y="2011680"/>
            <a:ext cx="292608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07349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t>Zotero / Mendeley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6269" y="2011680"/>
            <a:ext cx="292608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33429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t>Elicit / Scite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2349" y="2011680"/>
            <a:ext cx="338328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9509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E8F5"/>
                </a:solidFill>
              </a:defRPr>
            </a:pPr>
            <a:r>
              <a:t>PaperMind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189" y="2651760"/>
            <a:ext cx="228600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349" y="2761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Core 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189" y="265176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07349" y="27614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File storage + citation formatting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269" y="265176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33429" y="27614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Single-task Q&amp;A over papers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2349" y="2651760"/>
            <a:ext cx="33832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59509" y="27614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Full-loop research collaboration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189" y="3154680"/>
            <a:ext cx="228600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349" y="3264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AI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189" y="315468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07349" y="3264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None (third-party plugins only)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6269" y="315468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429" y="3264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AI as standalone chat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349" y="3154680"/>
            <a:ext cx="33832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59509" y="3264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AI is the core product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189" y="3657600"/>
            <a:ext cx="228600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349" y="3767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Where It 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189" y="365760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07349" y="3767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Desktop app + web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96269" y="365760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33429" y="3767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Separate website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22349" y="3657600"/>
            <a:ext cx="33832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59509" y="3767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Inside your browser, inline with papers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189" y="4160520"/>
            <a:ext cx="228600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349" y="4270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Citation Trust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189" y="416052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07349" y="4270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You manually verify everything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96269" y="416052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33429" y="4270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Some source linking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22349" y="4160520"/>
            <a:ext cx="33832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59509" y="4270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100% traceable, multi-source verified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189" y="4663440"/>
            <a:ext cx="228600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1349" y="4773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Collaboration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70189" y="466344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07349" y="4773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Shared libraries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96269" y="466344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33429" y="4773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Limited team features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22349" y="4663440"/>
            <a:ext cx="33832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59509" y="47731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AI + human real-time co-editing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189" y="5166360"/>
            <a:ext cx="228600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1349" y="5276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Knowledge 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70189" y="516636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07349" y="52760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Flat file structure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96269" y="516636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33429" y="52760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Tag-based organization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22349" y="5166360"/>
            <a:ext cx="33832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59509" y="5276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Dynamic knowledge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Business Model: Freemium Subscription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Fixed-price, all-inclusive subscription — no token surprises, no hidden fees.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606040" cy="73152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8585"/>
                </a:solidFill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$0 /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20 deep interactions / day</a:t>
            </a:r>
            <a:br/>
            <a:r>
              <a:t>✓ Basic paper search &amp; reading</a:t>
            </a:r>
            <a:br/>
            <a:r>
              <a:t>✓ Core RAG Q&amp;A</a:t>
            </a:r>
            <a:br/>
            <a:r>
              <a:t>✓ Single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2011680"/>
            <a:ext cx="2606040" cy="73152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7FF5"/>
                </a:solidFill>
              </a:defRPr>
            </a:pPr>
            <a: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¥59 /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rPr dirty="0"/>
              <a:t>✓ Unlimited deep interactions</a:t>
            </a:r>
            <a:br>
              <a:rPr dirty="0"/>
            </a:br>
            <a:r>
              <a:rPr dirty="0"/>
              <a:t>✓ Enhanced knowledge graph</a:t>
            </a:r>
            <a:br>
              <a:rPr dirty="0"/>
            </a:br>
            <a:r>
              <a:rPr dirty="0"/>
              <a:t>✓ Priority model scheduling</a:t>
            </a:r>
            <a:br>
              <a:rPr dirty="0"/>
            </a:br>
            <a:r>
              <a:rPr dirty="0"/>
              <a:t>✓ Full citation tracing</a:t>
            </a:r>
            <a:br>
              <a:rPr dirty="0"/>
            </a:br>
            <a:r>
              <a:rPr dirty="0"/>
              <a:t>✓ ~¥42/month with annual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2606040" cy="73152"/>
          </a:xfrm>
          <a:prstGeom prst="rect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E8F5"/>
                </a:solidFill>
              </a:defRPr>
            </a:pPr>
            <a:r>
              <a:t>Team /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9184" y="2645957"/>
            <a:ext cx="2545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rPr dirty="0"/>
              <a:t>¥299 / user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Everything in Pro</a:t>
            </a:r>
            <a:br/>
            <a:r>
              <a:t>✓ Real-time collaboration</a:t>
            </a:r>
            <a:br/>
            <a:r>
              <a:t>✓ Shared knowledge base</a:t>
            </a:r>
            <a:br/>
            <a:r>
              <a:t>✓ Admin &amp; role management</a:t>
            </a:r>
            <a:br/>
            <a:r>
              <a:t>✓ Team annotation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011680"/>
            <a:ext cx="2606040" cy="73152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E0A8"/>
                </a:solidFill>
              </a:defRPr>
            </a:pPr>
            <a: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Custom Annual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Everything in Team</a:t>
            </a:r>
            <a:br/>
            <a:r>
              <a:t>✓ On-premise / private deployment</a:t>
            </a:r>
            <a:br/>
            <a:r>
              <a:t>✓ Dedicated technical support</a:t>
            </a:r>
            <a:br/>
            <a:r>
              <a:t>✓ Custom API integrations</a:t>
            </a:r>
            <a:br/>
            <a:r>
              <a:t>✓ Institutional volume pricing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AFAFA"/>
                </a:solidFill>
              </a:defRPr>
            </a:pPr>
            <a:r>
              <a:t>Why Pure Subscription? The Industry Alternative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We chose fixed-price subscription for one reason: academic users need predictable budgets.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2697480" cy="73152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8585"/>
                </a:solidFill>
              </a:defRPr>
            </a:pPr>
            <a:r>
              <a:t>Token-based</a:t>
            </a:r>
            <a:br/>
            <a:r>
              <a:t>(OpenAI, Elicit)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rPr dirty="0"/>
              <a:t>✗ Monthly bill unpredictable</a:t>
            </a:r>
            <a:br>
              <a:rPr dirty="0"/>
            </a:br>
            <a:br>
              <a:rPr dirty="0"/>
            </a:br>
            <a:r>
              <a:rPr dirty="0"/>
              <a:t>✗ Heavy users pay far more</a:t>
            </a:r>
            <a:br>
              <a:rPr dirty="0"/>
            </a:br>
            <a:br>
              <a:rPr dirty="0"/>
            </a:br>
            <a:r>
              <a:rPr dirty="0"/>
              <a:t>✗ 40% users exceed budget</a:t>
            </a:r>
            <a:br>
              <a:rPr dirty="0"/>
            </a:br>
            <a:br>
              <a:rPr dirty="0"/>
            </a:br>
            <a:r>
              <a:rPr dirty="0"/>
              <a:t>✗ Creates cost anxiety during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697480" cy="73152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CA34E"/>
                </a:solidFill>
              </a:defRPr>
            </a:pPr>
            <a:r>
              <a:t>Point/Credit System</a:t>
            </a:r>
            <a:br/>
            <a:r>
              <a:t>(Midjourney, Perplexity)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✗ Long-term cost exceeds subscription</a:t>
            </a:r>
            <a:br/>
            <a:br/>
            <a:r>
              <a:t>✗ 27% higher churn vs subscription</a:t>
            </a:r>
            <a:br/>
            <a:br/>
            <a:r>
              <a:t>✗ Students dislike fragmentation</a:t>
            </a:r>
            <a:br/>
            <a:br/>
            <a:r>
              <a:t>✗ Use limits create anxiety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2697480" cy="73152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CA34E"/>
                </a:solidFill>
              </a:defRPr>
            </a:pPr>
            <a:r>
              <a:t>Hybrid: Base + Overage</a:t>
            </a:r>
            <a:br/>
            <a:r>
              <a:t>(Claude, Elicit Pro)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✗ Complex rules confuse users</a:t>
            </a:r>
            <a:br/>
            <a:br/>
            <a:r>
              <a:t>✗ Fear of exceeding quota</a:t>
            </a:r>
            <a:br/>
            <a:br/>
            <a:r>
              <a:t>✗ Users reduce AI usage</a:t>
            </a:r>
            <a:br/>
            <a:br/>
            <a:r>
              <a:t>✗ Lower perceived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697480" cy="73152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E0A8"/>
                </a:solidFill>
              </a:defRPr>
            </a:pPr>
            <a:r>
              <a:t>Pure Subscription</a:t>
            </a:r>
            <a:br/>
            <a:r>
              <a:t>(PaperMind)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Fixed monthly cost, no surprises</a:t>
            </a:r>
            <a:br/>
            <a:br/>
            <a:r>
              <a:t>✓ Budget completely predictable</a:t>
            </a:r>
            <a:br/>
            <a:br/>
            <a:r>
              <a:t>✓ 32% higher conversion vs token</a:t>
            </a:r>
            <a:br/>
            <a:br/>
            <a:r>
              <a:t>✓ Aligns with academic budgets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789920" cy="8229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E8F5"/>
                </a:solidFill>
              </a:defRPr>
            </a:pPr>
            <a:r>
              <a:t>📊 Research: Academic AI users prefer fixed subscription 3:1 over token billing. Stable budget = higher trust &amp; renewal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Go-to-Market &amp; Revenue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</a:defRPr>
            </a:pPr>
            <a:r>
              <a:t>Customer Acquisition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04712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rPr dirty="0"/>
              <a:t>Year 1: Seed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4430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rPr dirty="0"/>
              <a:t>• </a:t>
            </a:r>
            <a:r>
              <a:rPr dirty="0" err="1"/>
              <a:t>Zhihu</a:t>
            </a:r>
            <a:r>
              <a:rPr dirty="0"/>
              <a:t> academic, </a:t>
            </a:r>
            <a:r>
              <a:rPr dirty="0" err="1"/>
              <a:t>Bilibili</a:t>
            </a:r>
            <a:r>
              <a:rPr dirty="0"/>
              <a:t> research creators</a:t>
            </a:r>
            <a:br>
              <a:rPr dirty="0"/>
            </a:br>
            <a:r>
              <a:rPr dirty="0"/>
              <a:t>• Reddit r/</a:t>
            </a:r>
            <a:r>
              <a:rPr dirty="0" err="1"/>
              <a:t>MachineLearning</a:t>
            </a:r>
            <a:r>
              <a:rPr dirty="0"/>
              <a:t>, Twitter/X academia</a:t>
            </a:r>
            <a:br>
              <a:rPr dirty="0"/>
            </a:br>
            <a:r>
              <a:rPr dirty="0"/>
              <a:t>• Campus events at top universities</a:t>
            </a:r>
            <a:br>
              <a:rPr dirty="0"/>
            </a:br>
            <a:r>
              <a:rPr dirty="0"/>
              <a:t>• 8,000 paying users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48640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347472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rPr dirty="0"/>
              <a:t>Year 2: ARPU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14183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rPr dirty="0"/>
              <a:t>• Launch Team/Lab collaboration tier</a:t>
            </a:r>
            <a:br>
              <a:rPr dirty="0"/>
            </a:br>
            <a:r>
              <a:rPr dirty="0"/>
              <a:t>• Multi-language paper support</a:t>
            </a:r>
            <a:br>
              <a:rPr dirty="0"/>
            </a:br>
            <a:r>
              <a:rPr dirty="0"/>
              <a:t>• University official partnerships</a:t>
            </a:r>
            <a:br>
              <a:rPr dirty="0"/>
            </a:br>
            <a:r>
              <a:rPr dirty="0"/>
              <a:t>• 35,000 paying users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48640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80060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9194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rPr dirty="0"/>
              <a:t>Year 3+: Vertical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754" y="4937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rPr dirty="0"/>
              <a:t>• Patents, medical, legal document analysis</a:t>
            </a:r>
            <a:br>
              <a:rPr dirty="0"/>
            </a:br>
            <a:r>
              <a:rPr dirty="0"/>
              <a:t>• Enterprise sales team for institutions</a:t>
            </a:r>
            <a:br>
              <a:rPr dirty="0"/>
            </a:br>
            <a:r>
              <a:rPr dirty="0"/>
              <a:t>• Private deployment contracts</a:t>
            </a:r>
            <a:br>
              <a:rPr dirty="0"/>
            </a:br>
            <a:r>
              <a:rPr dirty="0"/>
              <a:t>• 120,000 paying users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</a:defRPr>
            </a:pPr>
            <a:r>
              <a:t>Conservative ARR Projection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011680"/>
            <a:ext cx="493776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CA34E"/>
                </a:solidFill>
              </a:defRPr>
            </a:pPr>
            <a:r>
              <a:t>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AFAFA"/>
                </a:solidFill>
              </a:defRPr>
            </a:pPr>
            <a:r>
              <a:t>¥3.8M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8C5D0"/>
                </a:solidFill>
              </a:defRPr>
            </a:pPr>
            <a:r>
              <a:t>8K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337560"/>
            <a:ext cx="493776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E8F5"/>
                </a:solidFill>
              </a:defRPr>
            </a:pPr>
            <a:r>
              <a:t>Year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AFAFA"/>
                </a:solidFill>
              </a:defRPr>
            </a:pPr>
            <a:r>
              <a:t>¥18.5M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8C5D0"/>
                </a:solidFill>
              </a:defRPr>
            </a:pPr>
            <a:r>
              <a:t>35K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663440"/>
            <a:ext cx="493776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E0A8"/>
                </a:solidFill>
              </a:defRPr>
            </a:pPr>
            <a:r>
              <a:t>Year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AFAFA"/>
                </a:solidFill>
              </a:defRPr>
            </a:pPr>
            <a:r>
              <a:t>¥68M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8C5D0"/>
                </a:solidFill>
              </a:defRPr>
            </a:pPr>
            <a:r>
              <a:t>120K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AFAFA"/>
                </a:solidFill>
              </a:defRPr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Conclusion: 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is the Product, Not a Feature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7C7FF5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7C7F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1: Core Functions Depend Entirely 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FAFAFA"/>
                </a:solidFill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Smart paper recommendation = NLP understanding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One-click PDF summary = RAG + LLM generation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Research lineage mapping = knowledge graph + GNN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Traceable citation output = bidirectional tracking algorithm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Remove AI → product becomes a blank browser extension that just opens PDFs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34295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7C7FF5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C7F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2: Differentiation Comes From 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88462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FAFAFA"/>
                </a:solidFill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Competitors: single Q&amp;A AI, manual copy-paste workflow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Us: browser-native — NLP push + RAG read + graph weave + trace verify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Full-loop AI collaboration system is the moat, not individual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7C7FF5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7C7F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Layer 3: Business Model &amp; Growth Are Built 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22488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FAFAFA"/>
                </a:solidFill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Freemium: basic AI free → advanced RAG/graph/tracing paid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Expandable: same RAG+NLP stack → patents, reports, legal docs</a:t>
            </a:r>
            <a:b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Scales with AI capability: better models = more value to users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Key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Three critical risks — and how we address 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89920" cy="1417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299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8585"/>
                </a:solidFill>
              </a:defRPr>
            </a:pPr>
            <a:r>
              <a:t>AI Output Credibility &amp; Error 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rPr dirty="0"/>
              <a:t>⚠ Risk: Full AI pipeline means errors can compound. A 'well-sourced' wrong answer is more dangerous than a bare hallucination.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rPr dirty="0"/>
              <a:t>✓ Mitigation: Show evidence strength + conflicting papers. Require 2+ independent sources for key claims. Confidence scores on all graph entities. Manual spot-check QA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89920" cy="1417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A34E"/>
                </a:solidFill>
              </a:defRPr>
            </a:pPr>
            <a:r>
              <a:t>Browser-Native Stability &amp; Data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rPr dirty="0"/>
              <a:t>⚠ Risk: Academic sites change layouts, breaking functionality. Users worry about research data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rPr dirty="0"/>
              <a:t>✓ Mitigation: Focus on top 5 platforms first for reliable UX. Automated regression testing + quick rollback. Minimum-permission design. Clear data flow transparency. Local/private deployment options.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89920" cy="1417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E8F5"/>
                </a:solidFill>
              </a:defRPr>
            </a:pPr>
            <a:r>
              <a:t>Team Collaboration: Versioning, Permissions,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rPr dirty="0"/>
              <a:t>⚠ Risk: AI content shared across teams can spread errors fast. Unclear who reviewed what.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9788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rPr dirty="0"/>
              <a:t>✓ Mitigation: Full version history (AI output + human edits + model version). Role-based access control per project. 'Pending / Verified / Citable' status workflow. Clear responsibility markers on all content.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Roadmap &amp; Long-Term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520440" cy="41148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7FF5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Short-Term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0"/>
                </a:solidFill>
              </a:defRPr>
            </a:pPr>
            <a:r>
              <a:t>Leading browser-native</a:t>
            </a:r>
            <a:br/>
            <a:r>
              <a:t>collaborative literature tool</a:t>
            </a:r>
            <a:br/>
            <a:r>
              <a:t>for academic researchers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023360"/>
            <a:ext cx="260604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Consolidate university users</a:t>
            </a:r>
            <a:br/>
            <a:r>
              <a:t>• Polish browser-native experience</a:t>
            </a:r>
            <a:br/>
            <a:r>
              <a:t>• Strengthen RAG &amp; citation tracing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520440" cy="41148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E8F5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Medium-Term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0"/>
                </a:solidFill>
              </a:defRPr>
            </a:pPr>
            <a:r>
              <a:t>Expand to cross-industry</a:t>
            </a:r>
            <a:br/>
            <a:r>
              <a:t>knowledge workers</a:t>
            </a:r>
            <a:br/>
            <a:r>
              <a:t>(consulting, policy, engineering)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4023360"/>
            <a:ext cx="260604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42062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Industry-specific templates</a:t>
            </a:r>
            <a:br/>
            <a:r>
              <a:t>• Legal / business / technical docs</a:t>
            </a:r>
            <a:br/>
            <a:r>
              <a:t>• Enterprise API integrations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20440" cy="41148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E0A8"/>
                </a:solidFill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Long-Term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0"/>
                </a:solidFill>
              </a:defRPr>
            </a:pPr>
            <a:r>
              <a:t>Establish standard for traceable,</a:t>
            </a:r>
            <a:br/>
            <a:r>
              <a:t>evidence-based AI knowledge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023360"/>
            <a:ext cx="260604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Set accountability benchmarks</a:t>
            </a:r>
            <a:br/>
            <a:r>
              <a:t>• Ecosystem of verifiable AI output</a:t>
            </a:r>
            <a:br/>
            <a:r>
              <a:t>• Every AI conclusion traces to source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</a:defRPr>
            </a:pPr>
            <a:r>
              <a:t>Join Us in Reinventing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89920" cy="914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E8F5"/>
                </a:solidFill>
              </a:defRPr>
            </a:pPr>
            <a:r>
              <a:t>Core Philosophy: We don't merely use AI — we build systems to harness AI responsibly.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</a:defRPr>
            </a:pPr>
            <a:r>
              <a:t>We're raising angel funding for three priorities: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749039"/>
            <a:ext cx="548640" cy="548640"/>
          </a:xfrm>
          <a:prstGeom prst="ellipse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840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22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7947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</a:defRPr>
            </a:pPr>
            <a:r>
              <a:t>Iterate AI Harness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0965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Reduce hallucinations, improve citation accuracy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434839"/>
            <a:ext cx="548640" cy="548640"/>
          </a:xfrm>
          <a:prstGeom prst="ellipse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220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480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</a:defRPr>
            </a:pPr>
            <a:r>
              <a:t>Scale User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7823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University &amp; academic conference partnerships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120639"/>
            <a:ext cx="548640" cy="548640"/>
          </a:xfrm>
          <a:prstGeom prst="ellipse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220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1663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</a:defRPr>
            </a:pPr>
            <a:r>
              <a:t>Reinforce Competitive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4681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Browser-native collaborative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7FF5"/>
                </a:solidFill>
              </a:defRPr>
            </a:pPr>
            <a:r>
              <a:t>Turn scattered literature into connected, verifiable knowledge.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AFAFA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8C5D0"/>
                </a:solidFill>
              </a:defRPr>
            </a:pPr>
            <a:r>
              <a:t>Thank you for your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E8F5"/>
                </a:solidFill>
              </a:defRPr>
            </a:pPr>
            <a:r>
              <a:t>PaperMind — Browser-Native AI Research Co-Pilot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1889</Words>
  <Application>Microsoft Office PowerPoint</Application>
  <PresentationFormat>宽屏</PresentationFormat>
  <Paragraphs>199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win11</dc:creator>
  <cp:keywords/>
  <dc:description>generated using python-pptx</dc:description>
  <cp:lastModifiedBy>ziyan zeng</cp:lastModifiedBy>
  <cp:revision>8</cp:revision>
  <dcterms:created xsi:type="dcterms:W3CDTF">2013-01-27T09:14:16Z</dcterms:created>
  <dcterms:modified xsi:type="dcterms:W3CDTF">2026-07-15T12:27:27Z</dcterms:modified>
  <cp:category/>
</cp:coreProperties>
</file>