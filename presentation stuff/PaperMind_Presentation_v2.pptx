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AFAFA"/>
                </a:solidFill>
              </a:defRPr>
            </a:pPr>
            <a:r>
              <a:t>PaperMind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DE8F5"/>
                </a:solidFill>
              </a:defRPr>
            </a:pPr>
            <a:r>
              <a:t>Browser-Native AI Research Co-Pilot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8C5D0"/>
                </a:solidFill>
              </a:defRPr>
            </a:pPr>
            <a:r>
              <a:t>Drowning in information, starving for knowledge.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2026 Product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The Problem: Information Overload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We have more papers than ever — but less actual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240280"/>
            <a:ext cx="73152" cy="548640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3M+ Papers /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One new paper every 10 seconds</a:t>
            </a:r>
            <a:br/>
            <a:r>
              <a:t>Researchers can read &lt; 1% of relevant literature</a:t>
            </a:r>
            <a:br/>
            <a:r>
              <a:t>Information overwhelm = slow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2240280"/>
            <a:ext cx="73152" cy="548640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AI Hallucination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Up to 30% fake citations in academic AI outputs</a:t>
            </a:r>
            <a:br/>
            <a:r>
              <a:t>Chasing ghost references wastes hours</a:t>
            </a:r>
            <a:br/>
            <a:r>
              <a:t>Verification is a new form of labor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474720" cy="22860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224028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Fragmented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889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10+ tabs open per research session</a:t>
            </a:r>
            <a:br/>
            <a:r>
              <a:t>Copy-paste between tools is error-prone</a:t>
            </a:r>
            <a:br/>
            <a:r>
              <a:t>Knowledge gets lost in silos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78992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E8F5"/>
                </a:solidFill>
              </a:defRPr>
            </a:pPr>
            <a:r>
              <a:t>"Drowning in information, starving for knowledge."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</a:defRPr>
            </a:pPr>
            <a:r>
              <a:t>Today's Tools Treat Research Like a Vending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Insert question → receive answer. No collaboration, no memory, no verification.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03520" cy="43891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73152" cy="548640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Current: Q&amp;A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400" b="0">
                <a:solidFill>
                  <a:srgbClr val="B8C5D0"/>
                </a:solidFill>
              </a:defRPr>
            </a:pPr>
            <a:r>
              <a:t>  🔴  One-way: Question → Answer</a:t>
            </a:r>
            <a:br/>
            <a:r>
              <a:t>  🔴  No context of your work</a:t>
            </a:r>
            <a:br/>
            <a:r>
              <a:t>  🔴  Answers need manual verification</a:t>
            </a:r>
            <a:br/>
            <a:r>
              <a:t>  🔴  No memory across sessions</a:t>
            </a:r>
            <a:br/>
            <a:r>
              <a:t>  🔴  Works in isolation, not with you</a:t>
            </a:r>
            <a:br/>
            <a:br/>
            <a:r>
              <a:t>Tools: ChatGPT, Gemini, Elicit, Scite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3891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2148840"/>
            <a:ext cx="73152" cy="548640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PaperMind: Co-Pilot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974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l">
              <a:defRPr sz="1400" b="0">
                <a:solidFill>
                  <a:srgbClr val="B8C5D0"/>
                </a:solidFill>
              </a:defRPr>
            </a:pPr>
            <a:r>
              <a:t>  🟢  Observe → Understand → Suggest → Verify</a:t>
            </a:r>
            <a:br/>
            <a:r>
              <a:t>  🟢  Lives in your browser, knows your research</a:t>
            </a:r>
            <a:br/>
            <a:r>
              <a:t>  🟢  Every claim bound to real source pages</a:t>
            </a:r>
            <a:br/>
            <a:r>
              <a:t>  🟢  Builds your knowledge graph over time</a:t>
            </a:r>
            <a:br/>
            <a:r>
              <a:t>  🟢  Works alongside you, not for you</a:t>
            </a:r>
            <a:br/>
            <a:br/>
            <a:r>
              <a:t>Philosophy: AI should amplify thinking, not replace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E8F5"/>
                </a:solidFill>
              </a:defRPr>
            </a:pPr>
            <a:r>
              <a:t>Not a vending machine for answers — a co-pilot for discovery.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Introducing PaperMind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The world's first browser-native AI research co-pilot.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Deep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RAG-powered reading</a:t>
            </a:r>
            <a:br/>
            <a:r>
              <a:t>assistant +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984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5984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864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864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Knowledge graph + paper</a:t>
            </a:r>
            <a:br/>
            <a:r>
              <a:t>search &amp;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0448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0448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✍️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3328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3328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LaTeX editor + AI</a:t>
            </a:r>
            <a:br/>
            <a:r>
              <a:t>writing assistance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912" y="2103120"/>
            <a:ext cx="256032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912" y="2377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AFAFA"/>
                </a:solidFill>
              </a:defRPr>
            </a:pPr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7792" y="32004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FAFA"/>
                </a:solidFill>
              </a:defRPr>
            </a:pPr>
            <a:r>
              <a:t>Context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7792" y="37490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8C5D0"/>
                </a:solidFill>
              </a:defRPr>
            </a:pPr>
            <a:r>
              <a:t>Add papers, URLs,</a:t>
            </a:r>
            <a:br/>
            <a:r>
              <a:t>MCP skills to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789920" cy="10972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🌐 Browser-Native — works where you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🔗 Fully Traceable — every claim has a source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👥 Team-Ready — built-in 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🧠 Context-Aware — understands your research direction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AFAFA"/>
                </a:solidFill>
              </a:defRPr>
            </a:pPr>
            <a:r>
              <a:t>Demo: PaperMind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8C5D0"/>
                </a:solidFill>
              </a:defRPr>
            </a:pPr>
            <a:r>
              <a:t>We talked about the philosophy — now let me show you what it actually looks like.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4754880"/>
            <a:ext cx="6675120" cy="7315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Not a vending machine for answers — a co-pilot for discovery.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</a:defRPr>
            </a:pPr>
            <a:r>
              <a:t>One Workspace. Three Modules. Full Research Journey.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Research is a journey: you search, you read, you connect ideas, you 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52044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AFAFA"/>
                </a:solidFill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E8F5"/>
                </a:solidFill>
              </a:defRPr>
            </a:pPr>
            <a: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C5D0"/>
                </a:solidFill>
              </a:defRPr>
            </a:pPr>
            <a:r>
              <a:t>Discover papers &amp; map the research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Search papers by keyword</a:t>
            </a:r>
            <a:br/>
            <a:r>
              <a:t>• Interactive knowledge graph</a:t>
            </a:r>
            <a:br/>
            <a:r>
              <a:t>• Click any node → see connections</a:t>
            </a:r>
            <a:br/>
            <a:r>
              <a:t>• One-click 'Read Paper' → seamless transition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52044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AFAFA"/>
                </a:solidFill>
              </a:defRPr>
            </a:pPr>
            <a: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7FF5"/>
                </a:solidFill>
              </a:defRPr>
            </a:pPr>
            <a:r>
              <a:t>Deep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C5D0"/>
                </a:solidFill>
              </a:defRPr>
            </a:pPr>
            <a:r>
              <a:t>Read with AI that reads the same paper as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RAG-powered Q&amp;A inline</a:t>
            </a:r>
            <a:br/>
            <a:r>
              <a:t>• Context tab: build knowledge base</a:t>
            </a:r>
            <a:br/>
            <a:r>
              <a:t>• Data Blocks: extract tables &amp; charts</a:t>
            </a:r>
            <a:br/>
            <a:r>
              <a:t>• 'Add to Paper' → auto-generate LaTeX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52044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AFAFA"/>
                </a:solidFill>
              </a:defRPr>
            </a:pPr>
            <a: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E0A8"/>
                </a:solidFill>
              </a:defRPr>
            </a:pPr>
            <a:r>
              <a:t>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C5D0"/>
                </a:solidFill>
              </a:defRPr>
            </a:pPr>
            <a:r>
              <a:t>Write with AI that amplifies — never replaces — your judgment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576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3-panel layout: assistant, editor, preview</a:t>
            </a:r>
            <a:br/>
            <a:r>
              <a:t>• AI suggestions inline in LaTeX</a:t>
            </a:r>
            <a:br/>
            <a:r>
              <a:t>• Every citation bound to real source</a:t>
            </a:r>
            <a:br/>
            <a:r>
              <a:t>• You're always in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943600"/>
            <a:ext cx="5760720" cy="54864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E8F5"/>
                </a:solidFill>
              </a:defRPr>
            </a:pPr>
            <a:r>
              <a:t>Explore → Understand → Create — one seamless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E8F5"/>
                </a:solidFill>
              </a:defRPr>
            </a:pPr>
            <a:r>
              <a:t>Explore: From List to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A list of papers is just another information dump. Researchers need the *structure* of a field.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669280" cy="43891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7FF5"/>
                </a:solidFill>
              </a:defRPr>
            </a:pPr>
            <a:r>
              <a:t>🎯 Knowledge Graph — The Centerpiece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Every node = entity (paper, author, topic)</a:t>
            </a:r>
            <a:br/>
            <a:r>
              <a:t>Colored lines = relationships (cites, authored, related)</a:t>
            </a:r>
            <a:br/>
            <a:r>
              <a:t>Zoom, pan, click to explore connections</a:t>
            </a:r>
            <a:br/>
            <a:br/>
            <a:r>
              <a:t>Example: Click 'Attention Is All You Need'</a:t>
            </a:r>
            <a:br/>
            <a:r>
              <a:t>→ See its intellectual lineage instantly:</a:t>
            </a:r>
            <a:br/>
            <a:r>
              <a:t>   BERT built on it, GPT-3 built on it, ViT built on it</a:t>
            </a:r>
            <a:br/>
            <a:br/>
            <a:r>
              <a:t>One paper → entire field structure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937760" cy="2560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A34E"/>
                </a:solidFill>
              </a:defRPr>
            </a:pPr>
            <a:r>
              <a:t>💡 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317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AI shouldn't just give you answers —</a:t>
            </a:r>
            <a:br/>
            <a:r>
              <a:t>it should help you *see* the bigger picture.</a:t>
            </a:r>
            <a:br/>
            <a:br/>
            <a:r>
              <a:t>A search engine gives you a list.</a:t>
            </a:r>
            <a:br/>
            <a:r>
              <a:t>A knowledge graph gives you understanding.</a:t>
            </a:r>
            <a:br/>
            <a:br/>
            <a:r>
              <a:t>That's the difference between being told</a:t>
            </a:r>
            <a:br/>
            <a:r>
              <a:t>what to think and being empowered to</a:t>
            </a:r>
            <a:br/>
            <a:r>
              <a:t>think for yourself.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480560"/>
            <a:ext cx="4937760" cy="1554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E0A8"/>
                </a:solidFill>
              </a:defRPr>
            </a:pPr>
            <a:r>
              <a:t>🔗 Seamless Transition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074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Find a paper → Click 'Read Paper'</a:t>
            </a:r>
            <a:br/>
            <a:r>
              <a:t>→ Go straight to Deep Research mode</a:t>
            </a:r>
            <a:br/>
            <a:r>
              <a:t>No new tab, no context switching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7FF5"/>
                </a:solidFill>
              </a:defRPr>
            </a:pPr>
            <a:r>
              <a:t>Deep Research: Read with an AI That Reads With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Every answer is grounded in the actual paper — RAG working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7FF5"/>
                </a:solidFill>
              </a:defRPr>
            </a:pPr>
            <a:r>
              <a:t>📋 The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Left: The paper itself</a:t>
            </a:r>
            <a:br/>
            <a:br/>
            <a:r>
              <a:t>Right: Your AI research assistant</a:t>
            </a:r>
            <a:br/>
            <a:br/>
            <a:r>
              <a:t>Tabs: Q&amp;A | Context | Data Blocks</a:t>
            </a:r>
            <a:br/>
            <a:br/>
            <a:r>
              <a:t>No separate chat window.</a:t>
            </a:r>
            <a:br/>
            <a:r>
              <a:t>No copy-pasting back and forth.</a:t>
            </a:r>
            <a:br/>
            <a:r>
              <a:t>Just ask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20040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E8F5"/>
                </a:solidFill>
              </a:defRPr>
            </a:pPr>
            <a:r>
              <a:t>⚡ RAG in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AI reads the paper alongside you.</a:t>
            </a:r>
            <a:br/>
            <a:br/>
            <a:r>
              <a:t>Everything it says traces back</a:t>
            </a:r>
            <a:br/>
            <a:r>
              <a:t>to specific passages.</a:t>
            </a:r>
            <a:br/>
            <a:br/>
            <a:r>
              <a:t>Not making things up from</a:t>
            </a:r>
            <a:br/>
            <a:r>
              <a:t>training data — grounded in</a:t>
            </a:r>
            <a:br/>
            <a:r>
              <a:t>the actual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645920"/>
            <a:ext cx="3108960" cy="29260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E0A8"/>
                </a:solidFill>
              </a:defRPr>
            </a:pPr>
            <a:r>
              <a:t>🔑 Key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Context Tab:</a:t>
            </a:r>
            <a:br/>
            <a:r>
              <a:t>Build your research</a:t>
            </a:r>
            <a:br/>
            <a:r>
              <a:t>knowledge base</a:t>
            </a:r>
            <a:br/>
            <a:br/>
            <a:r>
              <a:t>Data Blocks:</a:t>
            </a:r>
            <a:br/>
            <a:r>
              <a:t>Extract tables, charts</a:t>
            </a:r>
            <a:br/>
            <a:r>
              <a:t>Auto-generate LaTeX</a:t>
            </a:r>
            <a:br/>
            <a:br/>
            <a:r>
              <a:t>'Add to Paper':</a:t>
            </a:r>
            <a:br/>
            <a:r>
              <a:t>One click → ready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89920" cy="146304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A34E"/>
                </a:solidFill>
              </a:defRPr>
            </a:pPr>
            <a:r>
              <a:t>🎯 'Co-Pilot, Not Vending Machine'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A vending machine gives you a single answer in isolation. A co-pilot sits next to you, understands the full context of your work,</a:t>
            </a:r>
            <a:br/>
            <a:r>
              <a:t>and helps you move your research forward — from reading, to understanding, to actually producing something.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FE0A8"/>
                </a:solidFill>
              </a:defRPr>
            </a:pPr>
            <a:r>
              <a:t>Workspace: Write with AI That Amplifies Your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The AI is not writing the paper for you — it's amplifying your thinking.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7FF5"/>
                </a:solidFill>
              </a:defRPr>
            </a:pPr>
            <a:r>
              <a:t>📐 Three-Panel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18872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5D0"/>
                </a:solidFill>
              </a:defRPr>
            </a:pPr>
            <a:r>
              <a:t>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Reading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C5D0"/>
                </a:solidFill>
              </a:defRPr>
            </a:pPr>
            <a:r>
              <a:t>Never lose source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103120"/>
            <a:ext cx="118872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2240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5D0"/>
                </a:solidFill>
              </a:defRPr>
            </a:pPr>
            <a:r>
              <a:t>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LaTeX 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C5D0"/>
                </a:solidFill>
              </a:defRPr>
            </a:pPr>
            <a:r>
              <a:t>Write with AI inline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03120"/>
            <a:ext cx="118872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240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C5D0"/>
                </a:solidFill>
              </a:defRPr>
            </a:pPr>
            <a:r>
              <a:t>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146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Live 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C5D0"/>
                </a:solidFill>
              </a:defRPr>
            </a:pPr>
            <a:r>
              <a:t>See your paper rendered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03120"/>
            <a:ext cx="365760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E8F5"/>
                </a:solidFill>
              </a:defRPr>
            </a:pPr>
            <a:r>
              <a:t>✨ AI Edit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697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As you write, AI offers inline suggestions</a:t>
            </a:r>
            <a:br/>
            <a:r>
              <a:t>Not generic completion — context-aware</a:t>
            </a:r>
            <a:br/>
            <a:r>
              <a:t>Hover: Accept, modify, or ignore</a:t>
            </a:r>
            <a:br/>
            <a:r>
              <a:t>You're always in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103120"/>
            <a:ext cx="3108960" cy="13716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E0A8"/>
                </a:solidFill>
              </a:defRPr>
            </a:pPr>
            <a:r>
              <a:t>🔗 Citation Binding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97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AI never invents citations</a:t>
            </a:r>
            <a:br/>
            <a:r>
              <a:t>Every reference → real paper</a:t>
            </a:r>
            <a:br/>
            <a:r>
              <a:t>Click to verify 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39"/>
            <a:ext cx="10789920" cy="100584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Core Principle: AI shouldn't replace your judgment. It should make your judgment better-informed.</a:t>
            </a:r>
            <a:br/>
            <a:r>
              <a:t>Every suggestion traces back to real papers in your context library.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789920" cy="12801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7FF5"/>
                </a:solidFill>
              </a:defRPr>
            </a:pPr>
            <a:r>
              <a:t>🔄 The Full Loop Working Together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AFAFA"/>
                </a:solidFill>
              </a:defRPr>
            </a:pPr>
            <a:r>
              <a:t>Explore to discover → Deep Research to understand → Workspace to create</a:t>
            </a:r>
            <a:br/>
            <a:r>
              <a:t>Each module flows into the next. Your knowledge compounds, not gets lost between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Philosophy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What we showed you connects directly to what we talked about earlier: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520440" cy="73152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7FF5"/>
                </a:solidFill>
              </a:defRPr>
            </a:pPr>
            <a:r>
              <a:t>AI should amplify thinking, not replace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You don't ask 'write my literature review'</a:t>
            </a:r>
            <a:br/>
            <a:r>
              <a:t>• You explore, read, build your understanding</a:t>
            </a:r>
            <a:br/>
            <a:r>
              <a:t>• AI helps you work faster at every step</a:t>
            </a:r>
            <a:br/>
            <a:r>
              <a:t>• You're in the driver's seat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828800"/>
            <a:ext cx="352044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E0A8"/>
                </a:solidFill>
              </a:defRPr>
            </a:pPr>
            <a:r>
              <a:t>Stop chasing ghosts, start discovering truths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Every claim traces back to a real source</a:t>
            </a:r>
            <a:br/>
            <a:r>
              <a:t>• Every citation → verify in one click</a:t>
            </a:r>
            <a:br/>
            <a:r>
              <a:t>• No ghost citations</a:t>
            </a:r>
            <a:br/>
            <a:r>
              <a:t>• No wasted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520440" cy="3200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520440" cy="73152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E8F5"/>
                </a:solidFill>
              </a:defRPr>
            </a:pPr>
            <a:r>
              <a:t>From Q&amp;A to collaboration, from static to seamless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063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Not a chat window you open occasionally</a:t>
            </a:r>
            <a:br/>
            <a:r>
              <a:t>• A workspace you live in</a:t>
            </a:r>
            <a:br/>
            <a:r>
              <a:t>• AI is there when you search, read, write</a:t>
            </a:r>
            <a:br/>
            <a:r>
              <a:t>• Not a tool you use — a partner you work with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303520"/>
            <a:ext cx="6675120" cy="914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5486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C5D0"/>
                </a:solidFill>
              </a:defRPr>
            </a:pPr>
            <a:r>
              <a:t>Now you've seen what PaperMind does. Let's see how it works under the hood.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Four Core AI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AI is not an add-on — it's the entire skeleton and engine of the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RAG — Retrieval-Augmented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Reads PDFs &amp; web pages, extracts paragraphs/charts/data</a:t>
            </a:r>
            <a:br/>
            <a:r>
              <a:t>Select any text → instant summary, translation, key points</a:t>
            </a:r>
            <a:br/>
            <a:r>
              <a:t>Root cause fix for hallucinations: all output bound to real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7FF5"/>
                </a:solidFill>
              </a:defRPr>
            </a:pPr>
            <a:r>
              <a:t>Solves: Reading time + fake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148840"/>
            <a:ext cx="73152" cy="548640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NLP — Semantic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Parses your research keywords and direction automatically</a:t>
            </a:r>
            <a:br/>
            <a:r>
              <a:t>Classifies reviews, experiments, methods papers intelligently</a:t>
            </a:r>
            <a:br/>
            <a:r>
              <a:t>Pushes frontier papers from arXiv, PubMed, Google Scholar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94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E8F5"/>
                </a:solidFill>
              </a:defRPr>
            </a:pPr>
            <a:r>
              <a:t>Solves: Search fatigue + irrelevant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73152" cy="548640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Knowledge Graph (GNN + Entity Extraction)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Extracts models, datasets, conclusions, authors as entities</a:t>
            </a:r>
            <a:br/>
            <a:r>
              <a:t>Maps connections: A proposed B → C improved B → D used B</a:t>
            </a:r>
            <a:br/>
            <a:r>
              <a:t>Discovers hidden cross-field connections manual search misses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172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E0A8"/>
                </a:solidFill>
              </a:defRPr>
            </a:pPr>
            <a:r>
              <a:t>Solves: Weak cross-paper connections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389120"/>
            <a:ext cx="5394960" cy="21945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526280"/>
            <a:ext cx="73152" cy="548640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526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Bidirectional Citation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749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Every AI output auto-binds to page numbers + source links</a:t>
            </a:r>
            <a:br/>
            <a:r>
              <a:t>Forward + backward citation tracing for full research lineage</a:t>
            </a:r>
            <a:br/>
            <a:r>
              <a:t>Multi-source cross-verification reduces hallucination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172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CA34E"/>
                </a:solidFill>
              </a:defRPr>
            </a:pPr>
            <a:r>
              <a:t>Solves: Truth verification + citation 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AI is the Product, Not a Feature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7FF5"/>
                </a:solidFill>
              </a:defRPr>
            </a:pPr>
            <a:r>
              <a:t>Layer 1: Core Functions Depend Entirely 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• Smart paper recommendation = NLP understanding</a:t>
            </a:r>
            <a:br/>
            <a:r>
              <a:t>• One-click PDF summary = RAG + LLM generation</a:t>
            </a:r>
            <a:br/>
            <a:r>
              <a:t>• Research lineage mapping = knowledge graph + GNN</a:t>
            </a:r>
            <a:br/>
            <a:r>
              <a:t>• Traceable citation output = bidirectional tracking algorithm</a:t>
            </a:r>
            <a:br/>
            <a:r>
              <a:t>Remove AI → product becomes a blank browser extension that just opens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7FF5"/>
                </a:solidFill>
              </a:defRPr>
            </a:pPr>
            <a:r>
              <a:t>Layer 2: Differentiation Comes From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• Competitors: single Q&amp;A AI, manual copy-paste workflow</a:t>
            </a:r>
            <a:br/>
            <a:r>
              <a:t>• Us: browser-native — NLP push + RAG read + graph weave + trace verify</a:t>
            </a:r>
            <a:br/>
            <a:r>
              <a:t>• Full-loop AI collaboration system is the moat, not individual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89920" cy="15087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7FF5"/>
                </a:solidFill>
              </a:defRPr>
            </a:pPr>
            <a:r>
              <a:t>Layer 3: Business Model &amp; Growth Are Built on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57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AFAFA"/>
                </a:solidFill>
              </a:defRPr>
            </a:pPr>
            <a:r>
              <a:t>• Freemium: basic AI free → advanced RAG/graph/tracing paid</a:t>
            </a:r>
            <a:br/>
            <a:r>
              <a:t>• Expandable: same RAG+NLP stack → patents, reports, legal docs</a:t>
            </a:r>
            <a:br/>
            <a:r>
              <a:t>• Scales with AI capability: better models = more value to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From tools that manage files or answer questions → to a system that collaborates with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011680"/>
            <a:ext cx="29260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Zotero / Mendeley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29260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21488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AFAFA"/>
                </a:solidFill>
              </a:defRPr>
            </a:pPr>
            <a:r>
              <a:t>Elicit / Scite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2011680"/>
            <a:ext cx="3383280" cy="640080"/>
          </a:xfrm>
          <a:prstGeom prst="rect">
            <a:avLst/>
          </a:prstGeom>
          <a:solidFill>
            <a:srgbClr val="1A263A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48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E8F5"/>
                </a:solidFill>
              </a:defRPr>
            </a:pPr>
            <a:r>
              <a:t>PaperMind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Core 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65176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7614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File storage + citation formatting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5176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7614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Single-task Q&amp;A over papers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65176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7614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Full-loop research collaboration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5468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64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AI Integration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15468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264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None (third-party plugins only)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15468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2644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AI as standalone chat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315468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2644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AI is the core product architecture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65760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767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Where It Works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65760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3767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Desktop app + web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3767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Separate website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65760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7673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Inside your browser, inline with papers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6052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2702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Citation Trust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16052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4680" y="4270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You manually verify everything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416052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4270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Some source linking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416052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4270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100% traceable, multi-source verified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663440"/>
            <a:ext cx="228600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4773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Collaboration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466344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4773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Shared libraries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4663440"/>
            <a:ext cx="29260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773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Limited team features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4663440"/>
            <a:ext cx="3383280" cy="502920"/>
          </a:xfrm>
          <a:prstGeom prst="rect">
            <a:avLst/>
          </a:prstGeom>
          <a:solidFill>
            <a:srgbClr val="17203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6840" y="47731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AI + human real-time co-editing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166360"/>
            <a:ext cx="228600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276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AFAFA"/>
                </a:solidFill>
              </a:defRPr>
            </a:pPr>
            <a:r>
              <a:t>Knowledge 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516636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54680" y="52760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Flat file structure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166360"/>
            <a:ext cx="29260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527608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FAFA"/>
                </a:solidFill>
              </a:defRPr>
            </a:pPr>
            <a:r>
              <a:t>Tag-based organization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9680" y="5166360"/>
            <a:ext cx="3383280" cy="502920"/>
          </a:xfrm>
          <a:prstGeom prst="rect">
            <a:avLst/>
          </a:prstGeom>
          <a:solidFill>
            <a:srgbClr val="0A1220"/>
          </a:solidFill>
          <a:ln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52760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E8F5"/>
                </a:solidFill>
              </a:defRPr>
            </a:pPr>
            <a:r>
              <a:t>Dynamic knowledge graph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Business Model: Freemium Subscription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Fixed-price, all-inclusive subscription — no token surprises, no hidden fees.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606040" cy="73152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8585"/>
                </a:solidFill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$0 /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20 deep interactions / day</a:t>
            </a:r>
            <a:br/>
            <a:r>
              <a:t>✓ Basic paper search &amp; reading</a:t>
            </a:r>
            <a:br/>
            <a:r>
              <a:t>✓ Core RAG Q&amp;A</a:t>
            </a:r>
            <a:br/>
            <a:r>
              <a:t>✓ Single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2606040" cy="73152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7FF5"/>
                </a:solidFill>
              </a:defRPr>
            </a:pPr>
            <a: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¥59 /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Unlimited deep interactions</a:t>
            </a:r>
            <a:br/>
            <a:r>
              <a:t>✓ Enhanced knowledge graph</a:t>
            </a:r>
            <a:br/>
            <a:r>
              <a:t>✓ Priority model scheduling</a:t>
            </a:r>
            <a:br/>
            <a:r>
              <a:t>✓ Full citation tracing</a:t>
            </a:r>
            <a:br/>
            <a:r>
              <a:t>✓ ~¥42/month with annual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2606040" cy="73152"/>
          </a:xfrm>
          <a:prstGeom prst="rect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Team /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¥299 / user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Everything in Pro</a:t>
            </a:r>
            <a:br/>
            <a:r>
              <a:t>✓ Real-time collaboration</a:t>
            </a:r>
            <a:br/>
            <a:r>
              <a:t>✓ Shared knowledge base</a:t>
            </a:r>
            <a:br/>
            <a:r>
              <a:t>✓ Admin &amp; role management</a:t>
            </a:r>
            <a:br/>
            <a:r>
              <a:t>✓ Team annotation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2011680"/>
            <a:ext cx="2606040" cy="39319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2011680"/>
            <a:ext cx="260604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2402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E0A8"/>
                </a:solidFill>
              </a:defRPr>
            </a:pPr>
            <a: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517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FAFA"/>
                </a:solidFill>
              </a:defRPr>
            </a:pPr>
            <a:r>
              <a:t>Custom Annual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200400"/>
            <a:ext cx="205740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383280"/>
            <a:ext cx="2148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Everything in Team</a:t>
            </a:r>
            <a:br/>
            <a:r>
              <a:t>✓ On-premise / private deployment</a:t>
            </a:r>
            <a:br/>
            <a:r>
              <a:t>✓ Dedicated technical support</a:t>
            </a:r>
            <a:br/>
            <a:r>
              <a:t>✓ Custom API integrations</a:t>
            </a:r>
            <a:br/>
            <a:r>
              <a:t>✓ Institutional volume pricing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FAFA"/>
                </a:solidFill>
              </a:defRPr>
            </a:pPr>
            <a:r>
              <a:t>Why Pure Subscription? The Industry Alternative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0"/>
                </a:solidFill>
              </a:defRPr>
            </a:pPr>
            <a:r>
              <a:t>We chose fixed-price subscription for one reason: academic users need predictable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2697480" cy="73152"/>
          </a:xfrm>
          <a:prstGeom prst="rect">
            <a:avLst/>
          </a:prstGeom>
          <a:solidFill>
            <a:srgbClr val="FA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8585"/>
                </a:solidFill>
              </a:defRPr>
            </a:pPr>
            <a:r>
              <a:t>Token-based</a:t>
            </a:r>
            <a:br/>
            <a:r>
              <a:t>(OpenAI, Elicit)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✗ Monthly bill unpredictable</a:t>
            </a:r>
            <a:br/>
            <a:br/>
            <a:r>
              <a:t>✗ Heavy users pay far more</a:t>
            </a:r>
            <a:br/>
            <a:br/>
            <a:r>
              <a:t>✗ 40% users exceed budget</a:t>
            </a:r>
            <a:br/>
            <a:br/>
            <a:r>
              <a:t>✗ Creates cost anxiety during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2697480" cy="73152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A34E"/>
                </a:solidFill>
              </a:defRPr>
            </a:pPr>
            <a:r>
              <a:t>Point/Credit System</a:t>
            </a:r>
            <a:br/>
            <a:r>
              <a:t>(Midjourney, Perplexity)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✗ Long-term cost exceeds subscription</a:t>
            </a:r>
            <a:br/>
            <a:br/>
            <a:r>
              <a:t>✗ 27% higher churn vs subscription</a:t>
            </a:r>
            <a:br/>
            <a:br/>
            <a:r>
              <a:t>✗ Students dislike fragmentation</a:t>
            </a:r>
            <a:br/>
            <a:br/>
            <a:r>
              <a:t>✗ Use limits create anxiety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2697480" cy="73152"/>
          </a:xfrm>
          <a:prstGeom prst="rect">
            <a:avLst/>
          </a:prstGeom>
          <a:solidFill>
            <a:srgbClr val="FCA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CA34E"/>
                </a:solidFill>
              </a:defRPr>
            </a:pPr>
            <a:r>
              <a:t>Hybrid: Base + Overage</a:t>
            </a:r>
            <a:br/>
            <a:r>
              <a:t>(Claude, Elicit Pro)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✗ Complex rules confuse users</a:t>
            </a:r>
            <a:br/>
            <a:br/>
            <a:r>
              <a:t>✗ Fear of exceeding quota</a:t>
            </a:r>
            <a:br/>
            <a:br/>
            <a:r>
              <a:t>✗ Users reduce AI usage</a:t>
            </a:r>
            <a:br/>
            <a:br/>
            <a:r>
              <a:t>✗ Lower perceived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697480" cy="384048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97480" cy="73152"/>
          </a:xfrm>
          <a:prstGeom prst="rect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E0A8"/>
                </a:solidFill>
              </a:defRPr>
            </a:pPr>
            <a:r>
              <a:t>Pure Subscription</a:t>
            </a:r>
            <a:br/>
            <a:r>
              <a:t>(PaperMind)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56032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FAFA"/>
                </a:solidFill>
              </a:defRPr>
            </a:pPr>
            <a:r>
              <a:t>✓ Fixed monthly cost, no surprises</a:t>
            </a:r>
            <a:br/>
            <a:br/>
            <a:r>
              <a:t>✓ Budget completely predictable</a:t>
            </a:r>
            <a:br/>
            <a:br/>
            <a:r>
              <a:t>✓ 32% higher conversion vs token</a:t>
            </a:r>
            <a:br/>
            <a:br/>
            <a:r>
              <a:t>✓ Aligns with academic budgets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789920" cy="82296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E8F5"/>
                </a:solidFill>
              </a:defRPr>
            </a:pPr>
            <a:r>
              <a:t>📊 Research: Academic AI users prefer fixed subscription 3:1 over token billing. Stable budget = higher trust &amp; renewal 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Go-to-Market &amp; Revenue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Customer Acquisition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Year 1: Seed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• Zhihu academic, Bilibili research creators</a:t>
            </a:r>
            <a:br/>
            <a:r>
              <a:t>• Reddit r/MachineLearning, Twitter/X academia</a:t>
            </a:r>
            <a:br/>
            <a:r>
              <a:t>• Campus events at top universities</a:t>
            </a:r>
            <a:br/>
            <a:r>
              <a:t>• 8,000 paying users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47472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Year 2: ARPU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• Launch Team/Lab collaboration tier</a:t>
            </a:r>
            <a:br/>
            <a:r>
              <a:t>• Multi-language paper support</a:t>
            </a:r>
            <a:br/>
            <a:r>
              <a:t>• University official partnerships</a:t>
            </a:r>
            <a:br/>
            <a:r>
              <a:t>• 35,000 paying users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48640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800600"/>
            <a:ext cx="73152" cy="548640"/>
          </a:xfrm>
          <a:prstGeom prst="rect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FAFA"/>
                </a:solidFill>
              </a:defRPr>
            </a:pPr>
            <a:r>
              <a:t>Year 3+: Vertical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0"/>
                </a:solidFill>
              </a:defRPr>
            </a:pPr>
            <a:r>
              <a:t>• Patents, medical, legal document analysis</a:t>
            </a:r>
            <a:br/>
            <a:r>
              <a:t>• Enterprise sales team for institutions</a:t>
            </a:r>
            <a:br/>
            <a:r>
              <a:t>• Private deployment contracts</a:t>
            </a:r>
            <a:br/>
            <a:r>
              <a:t>• 120,000 paying users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Conservative ARR Projection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01168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A34E"/>
                </a:solidFill>
              </a:defRPr>
            </a:pPr>
            <a:r>
              <a:t>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¥3.8M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8K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33756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E8F5"/>
                </a:solidFill>
              </a:defRPr>
            </a:pPr>
            <a:r>
              <a:t>Year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¥18.5M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35K 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663440"/>
            <a:ext cx="4937760" cy="11887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E0A8"/>
                </a:solidFill>
              </a:defRPr>
            </a:pPr>
            <a:r>
              <a:t>Year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AFAFA"/>
                </a:solidFill>
              </a:defRPr>
            </a:pPr>
            <a:r>
              <a:t>¥68M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8C5D0"/>
                </a:solidFill>
              </a:defRPr>
            </a:pPr>
            <a:r>
              <a:t>120K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0"/>
                </a:solidFill>
              </a:defRPr>
            </a:pPr>
            <a:r>
              <a:t>Three critical risks — and how we address 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299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8585"/>
                </a:solidFill>
              </a:defRPr>
            </a:pPr>
            <a:r>
              <a:t>AI Output Credibility &amp; Error 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⚠ Risk: Risk: Full AI pipeline means errors can compound. A 'well-sourced' wrong answer is more dangerous than a bare hallucination.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✓ Mitigation: Mitigation: Show evidence strength + conflicting papers. Require 2+ independent sources for key claims. Confidence scores on all graph entities. Manual spot-check QA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A34E"/>
                </a:solidFill>
              </a:defRPr>
            </a:pPr>
            <a:r>
              <a:t>Browser-Native Stability &amp; Data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⚠ Risk: Risk: Academic sites change layouts, breaking functionality. Users worry about research data privacy.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✓ Mitigation: Mitigation: Focus on top 5 platforms first for reliable UX. Automated regression testing + quick rollback. Minimum-permission design. Clear data flow transparency. Local/private deployment options.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789920" cy="141732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38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E8F5"/>
                </a:solidFill>
              </a:defRPr>
            </a:pPr>
            <a:r>
              <a:t>Team Collaboration: Versioning, Permissions,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86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⚠ Risk: Risk: AI content shared across teams can spread errors fast. Unclear who reviewed what.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97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✓ Mitigation: Mitigation: Full version history (AI output + human edits + model version). Role-based access control per project. 'Pending / Verified / Citable' status workflow. Clear responsibility markers on all content.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AFA"/>
                </a:solidFill>
              </a:defRPr>
            </a:pPr>
            <a:r>
              <a:t>Roadmap &amp; Long-Term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7FF5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Short-Term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Leading browser-native</a:t>
            </a:r>
            <a:br/>
            <a:r>
              <a:t>collaborative literature tool</a:t>
            </a:r>
            <a:br/>
            <a:r>
              <a:t>for academic researchers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Consolidate university users</a:t>
            </a:r>
            <a:br/>
            <a:r>
              <a:t>• Polish browser-native experience</a:t>
            </a:r>
            <a:br/>
            <a:r>
              <a:t>• Strengthen RAG &amp; citation tracing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E8F5"/>
                </a:solidFill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Medium-Term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Expand to cross-industry</a:t>
            </a:r>
            <a:br/>
            <a:r>
              <a:t>knowledge workers</a:t>
            </a:r>
            <a:br/>
            <a:r>
              <a:t>(consulting, policy, engineering)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Industry-specific templates</a:t>
            </a:r>
            <a:br/>
            <a:r>
              <a:t>• Legal / business / technical docs</a:t>
            </a:r>
            <a:br/>
            <a:r>
              <a:t>• Enterprise API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20440" cy="41148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E0A8"/>
                </a:solidFill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860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AFAFA"/>
                </a:solidFill>
              </a:defRPr>
            </a:pPr>
            <a:r>
              <a:t>Long-Term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0"/>
                </a:solidFill>
              </a:defRPr>
            </a:pPr>
            <a:r>
              <a:t>Establish standard for traceable,</a:t>
            </a:r>
            <a:br/>
            <a:r>
              <a:t>evidence-based AI knowledge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023360"/>
            <a:ext cx="2606040" cy="18288"/>
          </a:xfrm>
          <a:prstGeom prst="rect">
            <a:avLst/>
          </a:prstGeom>
          <a:solidFill>
            <a:srgbClr val="405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20624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FAFA"/>
                </a:solidFill>
              </a:defRPr>
            </a:pPr>
            <a:r>
              <a:t>• Set accountability benchmarks</a:t>
            </a:r>
            <a:br/>
            <a:r>
              <a:t>• Ecosystem of verifiable AI output</a:t>
            </a:r>
            <a:br/>
            <a:r>
              <a:t>• Every AI conclusion traces to source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</a:defRPr>
            </a:pPr>
            <a:r>
              <a:t>Join Us in Reinventing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89920" cy="914400"/>
          </a:xfrm>
          <a:prstGeom prst="roundRect">
            <a:avLst/>
          </a:prstGeom>
          <a:solidFill>
            <a:srgbClr val="1A263A"/>
          </a:solidFill>
          <a:ln w="12700">
            <a:solidFill>
              <a:srgbClr val="405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E8F5"/>
                </a:solidFill>
              </a:defRPr>
            </a:pPr>
            <a:r>
              <a:t>Core Philosophy: We don't merely use AI — we build systems to harness AI responsibly.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FAFA"/>
                </a:solidFill>
              </a:defRPr>
            </a:pPr>
            <a:r>
              <a:t>We're raising angel funding for three priorities: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749039"/>
            <a:ext cx="548640" cy="548640"/>
          </a:xfrm>
          <a:prstGeom prst="ellipse">
            <a:avLst/>
          </a:prstGeom>
          <a:solidFill>
            <a:srgbClr val="7C7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404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7947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Iterate AI Harness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0965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Reduce hallucinations, improve citation accuracy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4434839"/>
            <a:ext cx="548640" cy="548640"/>
          </a:xfrm>
          <a:prstGeom prst="ellipse">
            <a:avLst/>
          </a:prstGeom>
          <a:solidFill>
            <a:srgbClr val="2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4805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Scale User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7823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University &amp; academic conference partnerships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5120639"/>
            <a:ext cx="548640" cy="548640"/>
          </a:xfrm>
          <a:prstGeom prst="ellipse">
            <a:avLst/>
          </a:prstGeom>
          <a:solidFill>
            <a:srgbClr val="3FE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22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1663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</a:defRPr>
            </a:pPr>
            <a:r>
              <a:t>Reinforce Competitive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46811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0"/>
                </a:solidFill>
              </a:defRPr>
            </a:pPr>
            <a:r>
              <a:t>Browser-native collaborative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7FF5"/>
                </a:solidFill>
              </a:defRPr>
            </a:pPr>
            <a:r>
              <a:t>Turn scattered literature into connected, verifiable knowledge.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AFAFA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8C5D0"/>
                </a:solidFill>
              </a:defRPr>
            </a:pPr>
            <a:r>
              <a:t>Thank you for your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E8F5"/>
                </a:solidFill>
              </a:defRPr>
            </a:pPr>
            <a:r>
              <a:t>PaperMind — Browser-Native AI Research Co-Pilot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